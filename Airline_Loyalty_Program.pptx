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3A6B"/>
                </a:solidFill>
                <a:latin typeface="Calibri"/>
              </a:rPr>
              <a:t>Churn Rate by Months Inactive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0–1 month</c:v>
                  </c:pt>
                  <c:pt idx="1">
                    <c:v>1–3 months</c:v>
                  </c:pt>
                  <c:pt idx="2">
                    <c:v>3–6 months</c:v>
                  </c:pt>
                  <c:pt idx="3">
                    <c:v>6–12 months</c:v>
                  </c:pt>
                  <c:pt idx="4">
                    <c:v>12–18 months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</c:v>
                </c:pt>
                <c:pt idx="1">
                  <c:v>6</c:v>
                </c:pt>
                <c:pt idx="2">
                  <c:v>33.9</c:v>
                </c:pt>
                <c:pt idx="3">
                  <c:v>93.5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Flights (18m)</c:v>
                  </c:pt>
                  <c:pt idx="1">
                    <c:v>Active months (6m)</c:v>
                  </c:pt>
                  <c:pt idx="2">
                    <c:v>Distance (12m)</c:v>
                  </c:pt>
                  <c:pt idx="3">
                    <c:v>Distance (6m)</c:v>
                  </c:pt>
                  <c:pt idx="4">
                    <c:v>Flight trend</c:v>
                  </c:pt>
                  <c:pt idx="5">
                    <c:v>CLV</c:v>
                  </c:pt>
                  <c:pt idx="6">
                    <c:v>Education</c:v>
                  </c:pt>
                  <c:pt idx="7">
                    <c:v>Active months (18m)</c:v>
                  </c:pt>
                  <c:pt idx="8">
                    <c:v>Tenure (months)</c:v>
                  </c:pt>
                  <c:pt idx="9">
                    <c:v>Active months (3m)</c:v>
                  </c:pt>
                  <c:pt idx="10">
                    <c:v>Months since last flight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0.195</c:v>
                </c:pt>
                <c:pt idx="1">
                  <c:v>0.198</c:v>
                </c:pt>
                <c:pt idx="2">
                  <c:v>0.209</c:v>
                </c:pt>
                <c:pt idx="3">
                  <c:v>0.21</c:v>
                </c:pt>
                <c:pt idx="4">
                  <c:v>0.247</c:v>
                </c:pt>
                <c:pt idx="5">
                  <c:v>0.26</c:v>
                </c:pt>
                <c:pt idx="6">
                  <c:v>0.299</c:v>
                </c:pt>
                <c:pt idx="7">
                  <c:v>0.317</c:v>
                </c:pt>
                <c:pt idx="8">
                  <c:v>0.444</c:v>
                </c:pt>
                <c:pt idx="9">
                  <c:v>0.606</c:v>
                </c:pt>
                <c:pt idx="10">
                  <c:v>2.281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560320"/>
            <a:ext cx="2011680" cy="201168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INTELLIGENCE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AIRLINE LOYALTY PROGRAMMES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 Team  |  16,737 Canadian Loyalty Members  |  2017–2018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40A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40A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@ Top 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40A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at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Prediction  ·  Customer Segmentation  ·  Retention Playbook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52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1197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54533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defined churn — and why the standard definition falls short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105156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252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05272" y="1197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05272" y="154533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contained, what we found, and every decision we made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532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4780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Churn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8254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 works, how well it performs, and what drives predictions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3172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532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05272" y="24780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05272" y="28254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distinct groups with clear CLV and risk profiles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8130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375818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Playbook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1056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interventions: who, when, what channel, and at what cost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38130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05272" y="375818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Recommendations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05272" y="41056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each — for the CFO and CMO to act on tomorrow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standard loyalty metrics leave money on the table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Points-Only Loyalty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programmes track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balance and tier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579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flight 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7797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cancellation records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3814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signal until the member is already gone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57276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disengagement 2–3 months early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21579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value at risk before members leave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8163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27797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members by behaviour + future 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43814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specific actions to marketing ops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6177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a member can have a high CLV, an active account, and have booked their last flight 6 months ago — and today's dashboard shows them as healthy.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Defined Churn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48640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60120"/>
            <a:ext cx="274320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WINDOW  Jan 2017 – Jun 2018  (features built here)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89320" y="987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WINDOW  Jul–Dec 2018  (labels defined here)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2788920" cy="3246120"/>
          </a:xfrm>
          <a:prstGeom prst="roundRect">
            <a:avLst>
              <a:gd name="adj" fmla="val 3934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190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Active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14,268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 (85%)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27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1 flight in Jul–Dec 2018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3075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— no action required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572768"/>
            <a:ext cx="2788920" cy="32461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17190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Churned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148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7472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 (5.4%)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035808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127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flights before Jun 2018, zero in Jul–Dec 2018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73075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Intervene — core model target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1572768"/>
            <a:ext cx="2788920" cy="3246120"/>
          </a:xfrm>
          <a:prstGeom prst="roundRect">
            <a:avLst>
              <a:gd name="adj" fmla="val 3934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17190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Dormant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148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0080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 (9.4%)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035808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127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flights across all of 2017–2018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73075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activation campaign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9194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6 months? Seasonal gaps of 1–3 months are normal in Canadian travel. 6 consecutive months of silence is a genuine disengagement signal — not a holiday.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 &amp; Cleaning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16,737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392,936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Records (raw)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yrs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Span (2017–18)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08660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Categories Audited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Decisions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34640"/>
          <a:ext cx="8321040" cy="219456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 missing salary values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imputation ($73,510); 20 negatives nulled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Preserves distribution without false 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1,922 exact duplicate flight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Dropped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Recording errors; would inflate activity counts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 flew before enrollment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enrollment = first flight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migration artefact; first flight is the real 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1,084 high CLV but near-zero flights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Flagged as CLV–activity mismatch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CLV likely from credit card / partner spend, not flights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year corrupted as timestamp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Rebuilt from integer year + month columns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pd.to_datetime on integer columns creates nanosecond errors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Churn Prediction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· SMOTE · SHAP Explainability · AUC-ROC 0.921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Exceeds All Targets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(target: 0.75)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(target: 0.30)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4.2×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@ Top 20%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(target: 2×)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914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0789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08660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Churners caught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top 20% scored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11480" y="2487168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760720" y="2487168"/>
            <a:ext cx="2926080" cy="246888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43600" y="26334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Warning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 months inactive: 34% churn risk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36393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6 months inactive: 94% churn risk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3941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flags risk at 3 months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42428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2–3 month intervention window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4544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at 3 months — not 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Churn — SHAP Analysis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1480" y="91440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97880" y="91440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987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0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Since Last Flight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2252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far the dominant signal. 6+ months inactive = near-certain churn.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97880" y="1719072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792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Months (3m)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0" y="2029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of recent flying matters more than total volume.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97880" y="2523744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Tenure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834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members are most vulnerable. First 12 months is the critical window.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97880" y="3328416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35040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Trend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3639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trajectory precedes full churn by 2–4 months.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97880" y="4133088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3504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4187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0" y="44439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CLV = lower churn rate, but losses are disproportionately impactful.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× Churn Risk  ·  Five strategically distinct groups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Segments — CLV × Churn Risk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9496" y="108813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9496" y="143560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6,511  (38.9%)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9496" y="174650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CLV: $12,164   Churn: 0.07   Flights: 24.0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" y="2057400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&amp; Reward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108813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74136" y="143560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6,528  (39.0%)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4136" y="174650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CLV: $3,895   Churn: 0.08   Flights: 23.8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74136" y="2057400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Their Value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108813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Stars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08776" y="143560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1,057  (6.3%)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08776" y="174650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CLV: $10,952   Churn: 0.75   Flights: 16.3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8776" y="2057400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— Intervene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974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" y="282549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Sleeping/Lost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" y="317296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1,071  (6.4%)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" y="348386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CLV: $4,095   Churn: 0.76   Flights: 16.9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" y="3794760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Re-engage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6974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74136" y="282549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74136" y="317296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1,570  (9.4%)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74136" y="348386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CLV: $8,361   Churn: 1.00   Flights: 0.0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74136" y="3794760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First-Flight Activation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Interesting Finding: The Dormant Paradox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1556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$8,361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Members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(never flew)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1556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$5,780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8328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Median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members)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1556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$4,095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1792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Sleeping/Lost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(churned, low value)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852928"/>
            <a:ext cx="8321040" cy="2103120"/>
          </a:xfrm>
          <a:prstGeom prst="roundRect">
            <a:avLst>
              <a:gd name="adj" fmla="val 5217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members enrolled but never booked a flight — yet their CLV ($8,361 avg) beats the programme median.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almost certainly credit card and partner programme activity: they earn points through spend, not flights.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0965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not a write-off. They are an untapped revenue stream. The membership infrastructure already exists.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4439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targeted first-flight incentive for the top 600 Dormant members by CLV is a high-upside, near-zero-cost activation programme.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4572000" cy="4572000"/>
          </a:xfrm>
          <a:prstGeom prst="ellipse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$11.6M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Customer Lifetime Value is at immediate risk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95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1,057 At-Risk Stars carry an average CLV of $10,952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924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still flying — but their churn score has crossed 0.75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intervention, the majority will stop flying within 90 days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982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just 30% retains ~$3.5M in loyalty value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Playbook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interventions — who, when, what, and through which channel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Interventions by Segment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4023360"/>
        </p:xfrm>
        <a:graphic>
          <a:graphicData uri="http://schemas.openxmlformats.org/drawingml/2006/table">
            <a:tbl>
              <a:tblPr/>
              <a:tblGrid>
                <a:gridCol w="1371600"/>
                <a:gridCol w="1691640"/>
                <a:gridCol w="2423160"/>
                <a:gridCol w="1417320"/>
                <a:gridCol w="14173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At-Risk Stars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≥ 0.40 &amp; CLV ≥ median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call + status match + 2× points on next 3 bookings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then email (48 hrs)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book within 90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proactive (no threshold)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Personalised route offer + early access to new routes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+ app push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 annual retention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Loyalists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enrollment anniversary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60-day tier upgrade challenge — earn X pts for next 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+ in-app challenge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 avg CLV in 12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Sleeping/Lost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4 of inactivity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'We miss you' + discounted fare on most-flown route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only (low cost)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 reactivation in 60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months post-enrollment, no flight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3-email sequence: double pts + waived booking fee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sequence (30 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 first-flight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Recommendations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CFO and CMO — with financial cases and measurable outcomes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real-time churn early-warning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churn model monthly. Any member with score ≥ 0.40 and CLV above median enters a 90-day workflow: personal outreach in week 1, follow-up offer in week 4, win-back in week 8.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identifies churners 2–3 months before they go silent. Every month of delay means another cohort slips from At-Risk Stars into Sleeping/Lost — where recovery rates are 6× lower.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1,057 At-Risk Stars × $10,952 avg CLV = $11.6M at risk.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30% at $150/member campaign cost yields a conservative 22:1 ROI.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top 600 Dormant members by CLV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3-email sequence over 30 days to the top 600 Dormant members by CLV.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1: 'Your points are waiting.'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2: Double points on first booking.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3: Waived booking fee — final offer.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1,570 members enrolled but never flew — yet hold $8,361 avg CLV, above the programme median. They are credit card and partner earners who have never converted to flights.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 infrastructure already exists.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conversion on 600 priority members = 60 newly active flyers.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median programme CLV trajectory, this unlocks $500K+ in flight revenue at near-zero incremental cost.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engagement around the 3-month recency threshold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 targeted fare alert triggered at exactly 3 months of member inactivity — personalised to their most-flown route and typical travel season.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structural fix, not a one-time campaign.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risk jumps from 6% at 3 months to 34% at 6 months — an 8× increase. Prevention is the highest-ROI intervention.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automated, this costs near-zero to run at scale and stops members from drifting into the at-risk population.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078992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1B3A6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Retaining 10% of the ~200 members who progress to churn each month = ~240 members/year saved.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median CLV, annual retention value exceeds $2M — from a one-time automation build.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749808"/>
          </a:xfrm>
          <a:prstGeom prst="roundRect">
            <a:avLst>
              <a:gd name="adj" fmla="val 12195"/>
            </a:avLst>
          </a:prstGeom>
          <a:solidFill>
            <a:srgbClr val="1E3A8A">
              <a:alpha val="7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167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261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 is everything. A 3-month inactivity trigger beats any points-based alert. Build it now.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12195"/>
            </a:avLst>
          </a:prstGeom>
          <a:solidFill>
            <a:srgbClr val="1E3A8A">
              <a:alpha val="7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2311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1762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1,057 At-Risk Stars represent $11.6M in CLV. A phone call and a points offer is cheap insurance.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749808"/>
          </a:xfrm>
          <a:prstGeom prst="roundRect">
            <a:avLst>
              <a:gd name="adj" fmla="val 12195"/>
            </a:avLst>
          </a:prstGeom>
          <a:solidFill>
            <a:srgbClr val="1E3A8A">
              <a:alpha val="7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1455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0906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Dormant segment is an untapped revenue stream — $8,361 avg CLV waiting for a first-flight nudge.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13632"/>
            <a:ext cx="8138160" cy="749808"/>
          </a:xfrm>
          <a:prstGeom prst="roundRect">
            <a:avLst>
              <a:gd name="adj" fmla="val 12195"/>
            </a:avLst>
          </a:prstGeom>
          <a:solidFill>
            <a:srgbClr val="1E3A8A">
              <a:alpha val="7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0599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40050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works. AUC-ROC 0.921, lift 4.2× — the marketing team can trust the risk scores.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live at:  streamlit run phase5_dashboard.py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Behavioural Intelligence in Airline Loyalty Programmes</dc:title>
  <dc:subject>PptxGenJS Presentation</dc:subject>
  <dc:creator>PptxGenJS</dc:creator>
  <cp:lastModifiedBy>PptxGenJS</cp:lastModifiedBy>
  <cp:revision>1</cp:revision>
  <dcterms:created xsi:type="dcterms:W3CDTF">2026-06-09T04:25:24Z</dcterms:created>
  <dcterms:modified xsi:type="dcterms:W3CDTF">2026-06-09T04:25:24Z</dcterms:modified>
</cp:coreProperties>
</file>